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DM Sans" charset="1" panose="00000000000000000000"/>
      <p:regular r:id="rId14"/>
    </p:embeddedFont>
    <p:embeddedFont>
      <p:font typeface="Inter" charset="1" panose="02000503000000020004"/>
      <p:regular r:id="rId15"/>
    </p:embeddedFont>
    <p:embeddedFont>
      <p:font typeface="Inter Bold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notesSlides/notesSlide3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92238" y="2315467"/>
            <a:ext cx="9445526" cy="281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sz="5562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Gestão e Qualidade de Software: Refatorando um Music Player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398591"/>
            <a:ext cx="9445526" cy="242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Este trabalho documenta o processo de análise crítica, refatoração arquitetural e implementação de testes unitários em um projeto de Music Player em Python. Nosso foco foi elevar a qualidade do código e a manutenibilidade do sistema, aplicando princípios de Clean Code e isolamento de dependência.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755302" y="498128"/>
            <a:ext cx="4316314" cy="634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sz="3374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Equipe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5302" y="1536501"/>
            <a:ext cx="8125420" cy="115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Este projeto foi desenvolvido por uma equipe dedicada de estudantes, combinando esforços e conhecimentos para alcançar um resultado de alta qualidade: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5302" y="2766566"/>
            <a:ext cx="8125420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3224"/>
              </a:lnSpc>
              <a:buFont typeface="Arial"/>
              <a:buChar char="•"/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Angelo Rodrigues 824139676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5302" y="3187302"/>
            <a:ext cx="8125420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3224"/>
              </a:lnSpc>
              <a:buFont typeface="Arial"/>
              <a:buChar char="•"/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Barbara Tracanella 824124152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5302" y="3608040"/>
            <a:ext cx="8125420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3224"/>
              </a:lnSpc>
              <a:buFont typeface="Arial"/>
              <a:buChar char="•"/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Erick Domingues Soares 82414486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5302" y="4028778"/>
            <a:ext cx="8125420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3224"/>
              </a:lnSpc>
              <a:buFont typeface="Arial"/>
              <a:buChar char="•"/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Eduardo Baptistella Gonçalves 824147595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5302" y="4449515"/>
            <a:ext cx="8125420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3224"/>
              </a:lnSpc>
              <a:buFont typeface="Arial"/>
              <a:buChar char="•"/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Gabriel Prieto Lima 824142064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5302" y="4870251"/>
            <a:ext cx="8125420" cy="459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4496" indent="-127248" lvl="1">
              <a:lnSpc>
                <a:spcPts val="3224"/>
              </a:lnSpc>
              <a:buFont typeface="Arial"/>
              <a:buChar char="•"/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Wellington de Oliveira Sousa 825240209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5302" y="5409754"/>
            <a:ext cx="8125420" cy="80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Nosso objetivo comum foi transformar um código funcional, mas com falhas, em um sistema robusto e de fácil manutenção.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416802" y="1699320"/>
            <a:ext cx="8125420" cy="8125420"/>
            <a:chOff x="0" y="0"/>
            <a:chExt cx="10833893" cy="1083389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833862" cy="10833862"/>
            </a:xfrm>
            <a:custGeom>
              <a:avLst/>
              <a:gdLst/>
              <a:ahLst/>
              <a:cxnLst/>
              <a:rect r="r" b="b" t="t" l="l"/>
              <a:pathLst>
                <a:path h="10833862" w="10833862">
                  <a:moveTo>
                    <a:pt x="0" y="0"/>
                  </a:moveTo>
                  <a:lnTo>
                    <a:pt x="10833862" y="0"/>
                  </a:lnTo>
                  <a:lnTo>
                    <a:pt x="10833862" y="10833862"/>
                  </a:lnTo>
                  <a:lnTo>
                    <a:pt x="0" y="10833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55302" y="10195917"/>
            <a:ext cx="16777395" cy="804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4"/>
              </a:lnSpc>
            </a:pPr>
            <a:r>
              <a:rPr lang="en-US" sz="16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colaboração foi fundamental, e cada membro contribuiu significativamente para a análise, refatoração e teste do Music Player. Você pode conferir o repositório original do projeto no GitHub: GitHub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66515"/>
            <a:ext cx="13883134" cy="83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74"/>
              </a:lnSpc>
            </a:pPr>
            <a:r>
              <a:rPr lang="en-US" sz="4437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Desafios do Código Original: Débito Técnico Elevado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413695"/>
            <a:ext cx="16303526" cy="151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versão inicial do Music Player, embora funcional, apresentava sérias deficiências que comprometiam sua sustentabilidade a longo prazo. Analisamos o código e identificamos problemas críticos que geraram um </a:t>
            </a:r>
            <a:r>
              <a:rPr lang="en-US" b="true" sz="2187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alto débito técnico</a:t>
            </a: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3191" y="4226871"/>
            <a:ext cx="8048024" cy="4016121"/>
            <a:chOff x="0" y="0"/>
            <a:chExt cx="10730698" cy="53548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0679938" cy="5304028"/>
            </a:xfrm>
            <a:custGeom>
              <a:avLst/>
              <a:gdLst/>
              <a:ahLst/>
              <a:cxnLst/>
              <a:rect r="r" b="b" t="t" l="l"/>
              <a:pathLst>
                <a:path h="5304028" w="10679938">
                  <a:moveTo>
                    <a:pt x="0" y="243840"/>
                  </a:moveTo>
                  <a:cubicBezTo>
                    <a:pt x="0" y="109220"/>
                    <a:pt x="109728" y="0"/>
                    <a:pt x="244983" y="0"/>
                  </a:cubicBezTo>
                  <a:lnTo>
                    <a:pt x="10434955" y="0"/>
                  </a:lnTo>
                  <a:cubicBezTo>
                    <a:pt x="10570211" y="0"/>
                    <a:pt x="10679938" y="109220"/>
                    <a:pt x="10679938" y="243840"/>
                  </a:cubicBezTo>
                  <a:lnTo>
                    <a:pt x="10679938" y="5060188"/>
                  </a:lnTo>
                  <a:cubicBezTo>
                    <a:pt x="10679938" y="5194808"/>
                    <a:pt x="10570211" y="5304028"/>
                    <a:pt x="10434955" y="5304028"/>
                  </a:cubicBezTo>
                  <a:lnTo>
                    <a:pt x="244983" y="5304028"/>
                  </a:lnTo>
                  <a:cubicBezTo>
                    <a:pt x="109728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2D313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30738" cy="5354828"/>
            </a:xfrm>
            <a:custGeom>
              <a:avLst/>
              <a:gdLst/>
              <a:ahLst/>
              <a:cxnLst/>
              <a:rect r="r" b="b" t="t" l="l"/>
              <a:pathLst>
                <a:path h="5354828" w="10730738">
                  <a:moveTo>
                    <a:pt x="0" y="269240"/>
                  </a:moveTo>
                  <a:cubicBezTo>
                    <a:pt x="0" y="120396"/>
                    <a:pt x="121158" y="0"/>
                    <a:pt x="270383" y="0"/>
                  </a:cubicBezTo>
                  <a:lnTo>
                    <a:pt x="10460355" y="0"/>
                  </a:lnTo>
                  <a:lnTo>
                    <a:pt x="10460355" y="25400"/>
                  </a:lnTo>
                  <a:lnTo>
                    <a:pt x="10460355" y="0"/>
                  </a:lnTo>
                  <a:cubicBezTo>
                    <a:pt x="10609580" y="0"/>
                    <a:pt x="10730738" y="120396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5085588"/>
                  </a:lnTo>
                  <a:lnTo>
                    <a:pt x="10705338" y="5085588"/>
                  </a:lnTo>
                  <a:lnTo>
                    <a:pt x="10730738" y="5085588"/>
                  </a:lnTo>
                  <a:cubicBezTo>
                    <a:pt x="10730738" y="5234432"/>
                    <a:pt x="10609580" y="5354828"/>
                    <a:pt x="10460355" y="5354828"/>
                  </a:cubicBezTo>
                  <a:lnTo>
                    <a:pt x="10460355" y="5329428"/>
                  </a:lnTo>
                  <a:lnTo>
                    <a:pt x="10460355" y="5354828"/>
                  </a:lnTo>
                  <a:lnTo>
                    <a:pt x="270383" y="5354828"/>
                  </a:lnTo>
                  <a:lnTo>
                    <a:pt x="270383" y="5329428"/>
                  </a:lnTo>
                  <a:lnTo>
                    <a:pt x="270383" y="5354828"/>
                  </a:lnTo>
                  <a:cubicBezTo>
                    <a:pt x="121158" y="5354828"/>
                    <a:pt x="0" y="5234432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971" y="5304028"/>
                    <a:pt x="270383" y="5304028"/>
                  </a:cubicBezTo>
                  <a:lnTo>
                    <a:pt x="10460355" y="5304028"/>
                  </a:lnTo>
                  <a:cubicBezTo>
                    <a:pt x="10581767" y="5304028"/>
                    <a:pt x="10679938" y="5206111"/>
                    <a:pt x="10679938" y="5085588"/>
                  </a:cubicBezTo>
                  <a:lnTo>
                    <a:pt x="10679938" y="269240"/>
                  </a:lnTo>
                  <a:cubicBezTo>
                    <a:pt x="10679938" y="148717"/>
                    <a:pt x="10581767" y="50800"/>
                    <a:pt x="10460355" y="50800"/>
                  </a:cubicBezTo>
                  <a:lnTo>
                    <a:pt x="270383" y="50800"/>
                  </a:lnTo>
                  <a:lnTo>
                    <a:pt x="270383" y="25400"/>
                  </a:lnTo>
                  <a:lnTo>
                    <a:pt x="270383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65696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54138" y="4245918"/>
            <a:ext cx="152400" cy="3978027"/>
            <a:chOff x="0" y="0"/>
            <a:chExt cx="203200" cy="53040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200" cy="5304155"/>
            </a:xfrm>
            <a:custGeom>
              <a:avLst/>
              <a:gdLst/>
              <a:ahLst/>
              <a:cxnLst/>
              <a:rect r="r" b="b" t="t" l="l"/>
              <a:pathLst>
                <a:path h="530415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5247386"/>
                  </a:lnTo>
                  <a:cubicBezTo>
                    <a:pt x="203200" y="5278755"/>
                    <a:pt x="177800" y="5304155"/>
                    <a:pt x="146431" y="5304155"/>
                  </a:cubicBezTo>
                  <a:lnTo>
                    <a:pt x="56769" y="5304155"/>
                  </a:lnTo>
                  <a:cubicBezTo>
                    <a:pt x="25400" y="5304155"/>
                    <a:pt x="0" y="5278755"/>
                    <a:pt x="0" y="5247386"/>
                  </a:cubicBezTo>
                  <a:close/>
                </a:path>
              </a:pathLst>
            </a:custGeom>
            <a:solidFill>
              <a:srgbClr val="AC9E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155" y="4491335"/>
            <a:ext cx="3929360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Fragilidade Arquitetural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5" y="5028159"/>
            <a:ext cx="7252395" cy="2874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classe principal violava o Princípio da Responsabilidade Única (SRP), resultando em alto acoplamento entre a Interface de Usuário (UI) e dependências de hardware. Isso impossibilitava testes unitários isolados, evidenciando um design incorreto.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66638" y="4226871"/>
            <a:ext cx="8048173" cy="4016121"/>
            <a:chOff x="0" y="0"/>
            <a:chExt cx="10730897" cy="53548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10680064" cy="5304028"/>
            </a:xfrm>
            <a:custGeom>
              <a:avLst/>
              <a:gdLst/>
              <a:ahLst/>
              <a:cxnLst/>
              <a:rect r="r" b="b" t="t" l="l"/>
              <a:pathLst>
                <a:path h="5304028" w="10680064">
                  <a:moveTo>
                    <a:pt x="0" y="243840"/>
                  </a:moveTo>
                  <a:cubicBezTo>
                    <a:pt x="0" y="109220"/>
                    <a:pt x="109728" y="0"/>
                    <a:pt x="244983" y="0"/>
                  </a:cubicBezTo>
                  <a:lnTo>
                    <a:pt x="10435082" y="0"/>
                  </a:lnTo>
                  <a:cubicBezTo>
                    <a:pt x="10570337" y="0"/>
                    <a:pt x="10680064" y="109220"/>
                    <a:pt x="10680064" y="243840"/>
                  </a:cubicBezTo>
                  <a:lnTo>
                    <a:pt x="10680064" y="5060188"/>
                  </a:lnTo>
                  <a:cubicBezTo>
                    <a:pt x="10680064" y="5194808"/>
                    <a:pt x="10570337" y="5304028"/>
                    <a:pt x="10435082" y="5304028"/>
                  </a:cubicBezTo>
                  <a:lnTo>
                    <a:pt x="244983" y="5304028"/>
                  </a:lnTo>
                  <a:cubicBezTo>
                    <a:pt x="109728" y="5304028"/>
                    <a:pt x="0" y="5194808"/>
                    <a:pt x="0" y="5060188"/>
                  </a:cubicBezTo>
                  <a:close/>
                </a:path>
              </a:pathLst>
            </a:custGeom>
            <a:solidFill>
              <a:srgbClr val="2D3133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30864" cy="5354828"/>
            </a:xfrm>
            <a:custGeom>
              <a:avLst/>
              <a:gdLst/>
              <a:ahLst/>
              <a:cxnLst/>
              <a:rect r="r" b="b" t="t" l="l"/>
              <a:pathLst>
                <a:path h="5354828" w="10730864">
                  <a:moveTo>
                    <a:pt x="0" y="269240"/>
                  </a:moveTo>
                  <a:cubicBezTo>
                    <a:pt x="0" y="120396"/>
                    <a:pt x="121158" y="0"/>
                    <a:pt x="270383" y="0"/>
                  </a:cubicBezTo>
                  <a:lnTo>
                    <a:pt x="10460482" y="0"/>
                  </a:lnTo>
                  <a:lnTo>
                    <a:pt x="10460482" y="25400"/>
                  </a:lnTo>
                  <a:lnTo>
                    <a:pt x="10460482" y="0"/>
                  </a:lnTo>
                  <a:cubicBezTo>
                    <a:pt x="10609707" y="0"/>
                    <a:pt x="10730864" y="120396"/>
                    <a:pt x="10730864" y="269240"/>
                  </a:cubicBezTo>
                  <a:lnTo>
                    <a:pt x="10705464" y="269240"/>
                  </a:lnTo>
                  <a:lnTo>
                    <a:pt x="10730864" y="269240"/>
                  </a:lnTo>
                  <a:lnTo>
                    <a:pt x="10730864" y="5085588"/>
                  </a:lnTo>
                  <a:lnTo>
                    <a:pt x="10705464" y="5085588"/>
                  </a:lnTo>
                  <a:lnTo>
                    <a:pt x="10730864" y="5085588"/>
                  </a:lnTo>
                  <a:cubicBezTo>
                    <a:pt x="10730864" y="5234432"/>
                    <a:pt x="10609707" y="5354828"/>
                    <a:pt x="10460482" y="5354828"/>
                  </a:cubicBezTo>
                  <a:lnTo>
                    <a:pt x="10460482" y="5329428"/>
                  </a:lnTo>
                  <a:lnTo>
                    <a:pt x="10460482" y="5354828"/>
                  </a:lnTo>
                  <a:lnTo>
                    <a:pt x="270383" y="5354828"/>
                  </a:lnTo>
                  <a:lnTo>
                    <a:pt x="270383" y="5329428"/>
                  </a:lnTo>
                  <a:lnTo>
                    <a:pt x="270383" y="5354828"/>
                  </a:lnTo>
                  <a:cubicBezTo>
                    <a:pt x="121158" y="5354828"/>
                    <a:pt x="0" y="5234432"/>
                    <a:pt x="0" y="5085588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5085588"/>
                  </a:lnTo>
                  <a:lnTo>
                    <a:pt x="25400" y="5085588"/>
                  </a:lnTo>
                  <a:lnTo>
                    <a:pt x="50800" y="5085588"/>
                  </a:lnTo>
                  <a:cubicBezTo>
                    <a:pt x="50800" y="5206111"/>
                    <a:pt x="148971" y="5304028"/>
                    <a:pt x="270383" y="5304028"/>
                  </a:cubicBezTo>
                  <a:lnTo>
                    <a:pt x="10460482" y="5304028"/>
                  </a:lnTo>
                  <a:cubicBezTo>
                    <a:pt x="10581894" y="5304028"/>
                    <a:pt x="10680064" y="5206111"/>
                    <a:pt x="10680064" y="5085588"/>
                  </a:cubicBezTo>
                  <a:lnTo>
                    <a:pt x="10680064" y="269240"/>
                  </a:lnTo>
                  <a:cubicBezTo>
                    <a:pt x="10680064" y="148717"/>
                    <a:pt x="10581894" y="50800"/>
                    <a:pt x="10460482" y="50800"/>
                  </a:cubicBezTo>
                  <a:lnTo>
                    <a:pt x="270383" y="50800"/>
                  </a:lnTo>
                  <a:lnTo>
                    <a:pt x="270383" y="25400"/>
                  </a:lnTo>
                  <a:lnTo>
                    <a:pt x="270383" y="50800"/>
                  </a:lnTo>
                  <a:cubicBezTo>
                    <a:pt x="148971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65696B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9247584" y="4245918"/>
            <a:ext cx="152400" cy="3978027"/>
            <a:chOff x="0" y="0"/>
            <a:chExt cx="203200" cy="530403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3200" cy="5304155"/>
            </a:xfrm>
            <a:custGeom>
              <a:avLst/>
              <a:gdLst/>
              <a:ahLst/>
              <a:cxnLst/>
              <a:rect r="r" b="b" t="t" l="l"/>
              <a:pathLst>
                <a:path h="5304155" w="2032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5247386"/>
                  </a:lnTo>
                  <a:cubicBezTo>
                    <a:pt x="203200" y="5278755"/>
                    <a:pt x="177800" y="5304155"/>
                    <a:pt x="146431" y="5304155"/>
                  </a:cubicBezTo>
                  <a:lnTo>
                    <a:pt x="56769" y="5304155"/>
                  </a:lnTo>
                  <a:cubicBezTo>
                    <a:pt x="25400" y="5304155"/>
                    <a:pt x="0" y="5278755"/>
                    <a:pt x="0" y="5247386"/>
                  </a:cubicBezTo>
                  <a:close/>
                </a:path>
              </a:pathLst>
            </a:custGeom>
            <a:solidFill>
              <a:srgbClr val="AC9E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721602" y="4491335"/>
            <a:ext cx="3544044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50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Baixa Transparência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1602" y="5028159"/>
            <a:ext cx="7252544" cy="2420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O código era desprovido de comentários estratégicos e docstrings, o que aumentava o custo cognitivo para qualquer desenvolvedor que precisasse entender sua lógica. A falta de um README.md completo dificultava a colaboração e a adoção do projeto.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238" y="8390484"/>
            <a:ext cx="16303526" cy="606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4"/>
              </a:lnSpc>
            </a:pPr>
            <a:r>
              <a:rPr lang="en-US" sz="2187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Essas falhas tornavam o software inviável para manutenção e evolução, exigindo uma reforma emergencial.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906959" y="599778"/>
            <a:ext cx="12622262" cy="76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74"/>
              </a:lnSpc>
            </a:pPr>
            <a:r>
              <a:rPr lang="en-US" sz="4062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Nossa Estratégia de Refatoração: Rumo à Qualidade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6959" y="1727746"/>
            <a:ext cx="16474082" cy="56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Para reverter o cenário de débito técnico, aplicamos princípios de Clean Code e Engenharia de Software. Nossa estratégia focou em: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31110" y="2433638"/>
            <a:ext cx="74282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6959" y="2997845"/>
            <a:ext cx="8107412" cy="28575"/>
            <a:chOff x="0" y="0"/>
            <a:chExt cx="10809883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09859" cy="38100"/>
            </a:xfrm>
            <a:custGeom>
              <a:avLst/>
              <a:gdLst/>
              <a:ahLst/>
              <a:cxnLst/>
              <a:rect r="r" b="b" t="t" l="l"/>
              <a:pathLst>
                <a:path h="38100" w="10809859">
                  <a:moveTo>
                    <a:pt x="0" y="0"/>
                  </a:moveTo>
                  <a:lnTo>
                    <a:pt x="10809859" y="0"/>
                  </a:lnTo>
                  <a:lnTo>
                    <a:pt x="108098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C9E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413695" y="3098750"/>
            <a:ext cx="5093940" cy="49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4"/>
              </a:lnSpc>
            </a:pPr>
            <a:r>
              <a:rPr lang="en-US" sz="2499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Isolamento de Dependência (DIP)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6959" y="3592414"/>
            <a:ext cx="8107412" cy="1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Utilizamos mocking e patching para substituir dependências gráficas e de hardware. Isso permitiu a criação de instâncias da UI em ambientes de teste controlados e viabilizou a testabilidade.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197631" y="2433638"/>
            <a:ext cx="67833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73480" y="2997845"/>
            <a:ext cx="8107561" cy="28575"/>
            <a:chOff x="0" y="0"/>
            <a:chExt cx="10810082" cy="38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10113" cy="38100"/>
            </a:xfrm>
            <a:custGeom>
              <a:avLst/>
              <a:gdLst/>
              <a:ahLst/>
              <a:cxnLst/>
              <a:rect r="r" b="b" t="t" l="l"/>
              <a:pathLst>
                <a:path h="38100" w="10810113">
                  <a:moveTo>
                    <a:pt x="0" y="0"/>
                  </a:moveTo>
                  <a:lnTo>
                    <a:pt x="10810113" y="0"/>
                  </a:lnTo>
                  <a:lnTo>
                    <a:pt x="108101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C9E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1707565" y="3098750"/>
            <a:ext cx="3239244" cy="49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Modularidade e SRP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73480" y="3592414"/>
            <a:ext cx="8107561" cy="181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Dividimos o sistema em módulos autônomos, como src/song_controller.py (lógica de negócios e áudio) e src/ui.py (apresentação e orquestração). Essa separação garante baixo acoplamento e facilita a manutenção.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31110" y="5703689"/>
            <a:ext cx="742826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6959" y="6267896"/>
            <a:ext cx="8107412" cy="28575"/>
            <a:chOff x="0" y="0"/>
            <a:chExt cx="10809883" cy="381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09859" cy="38100"/>
            </a:xfrm>
            <a:custGeom>
              <a:avLst/>
              <a:gdLst/>
              <a:ahLst/>
              <a:cxnLst/>
              <a:rect r="r" b="b" t="t" l="l"/>
              <a:pathLst>
                <a:path h="38100" w="10809859">
                  <a:moveTo>
                    <a:pt x="0" y="0"/>
                  </a:moveTo>
                  <a:lnTo>
                    <a:pt x="10809859" y="0"/>
                  </a:lnTo>
                  <a:lnTo>
                    <a:pt x="108098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C9E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2978498" y="6368803"/>
            <a:ext cx="3964335" cy="49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Adição de Documentação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6959" y="6862465"/>
            <a:ext cx="8107412" cy="181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Incluímos docstrings completas para classes e métodos, além de comentários estratégicos. Isso tornou o código autoexplicativo, elevando a legibilidade e reduzindo o custo cognitivo para novos desenvolvedores.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197631" y="5703689"/>
            <a:ext cx="67833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273480" y="6267896"/>
            <a:ext cx="8107561" cy="28575"/>
            <a:chOff x="0" y="0"/>
            <a:chExt cx="10810082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10113" cy="38100"/>
            </a:xfrm>
            <a:custGeom>
              <a:avLst/>
              <a:gdLst/>
              <a:ahLst/>
              <a:cxnLst/>
              <a:rect r="r" b="b" t="t" l="l"/>
              <a:pathLst>
                <a:path h="38100" w="10810113">
                  <a:moveTo>
                    <a:pt x="0" y="0"/>
                  </a:moveTo>
                  <a:lnTo>
                    <a:pt x="10810113" y="0"/>
                  </a:lnTo>
                  <a:lnTo>
                    <a:pt x="1081011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AC9EF5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639276" y="6368803"/>
            <a:ext cx="5375970" cy="490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4"/>
              </a:lnSpc>
            </a:pPr>
            <a:r>
              <a:rPr lang="en-US" sz="2499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Implementação de Testes Unitários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73480" y="6862465"/>
            <a:ext cx="8107561" cy="139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Criamos uma suíte robusta de testes unitários para a lógica de negócios e a interface de usuário, comprovando a testabilidade do código refatorado e garantindo a validação contínua.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6959" y="9006036"/>
            <a:ext cx="16474082" cy="56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Essa abordagem estratégica permitiu resgatar o software e garantir sua longevidade.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892624"/>
            <a:chOff x="0" y="0"/>
            <a:chExt cx="24384000" cy="385683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856863"/>
            </a:xfrm>
            <a:custGeom>
              <a:avLst/>
              <a:gdLst/>
              <a:ahLst/>
              <a:cxnLst/>
              <a:rect r="r" b="b" t="t" l="l"/>
              <a:pathLst>
                <a:path h="385686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856863"/>
                  </a:lnTo>
                  <a:lnTo>
                    <a:pt x="0" y="3856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44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09922" y="3804643"/>
            <a:ext cx="12648159" cy="67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9"/>
              </a:lnSpc>
            </a:pPr>
            <a:r>
              <a:rPr lang="en-US" sz="3625">
                <a:solidFill>
                  <a:srgbClr val="AC9EF5"/>
                </a:solidFill>
                <a:latin typeface="DM Sans"/>
                <a:ea typeface="DM Sans"/>
                <a:cs typeface="DM Sans"/>
                <a:sym typeface="DM Sans"/>
              </a:rPr>
              <a:t>A Importância do Clean Code na Manutenção de Software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9922" y="4701629"/>
            <a:ext cx="16668155" cy="86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18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A refatoração do Music Player demonstrou o valor inestimável do </a:t>
            </a:r>
            <a:r>
              <a:rPr lang="en-US" b="true" sz="1812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Clean Code</a:t>
            </a:r>
            <a:r>
              <a:rPr lang="en-US" sz="18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para a manutenibilidade de software. Um código limpo não é apenas esteticamente agradável; é uma fundação para a sustentabilidade e evolução de qualquer projeto.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809922" y="5826324"/>
            <a:ext cx="8218437" cy="1110555"/>
            <a:chOff x="0" y="0"/>
            <a:chExt cx="10957917" cy="148074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957941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957941">
                  <a:moveTo>
                    <a:pt x="0" y="0"/>
                  </a:moveTo>
                  <a:lnTo>
                    <a:pt x="10957941" y="0"/>
                  </a:lnTo>
                  <a:lnTo>
                    <a:pt x="10957941" y="1480693"/>
                  </a:lnTo>
                  <a:lnTo>
                    <a:pt x="0" y="1480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41201" y="5933777"/>
            <a:ext cx="7755880" cy="4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1812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Redução de Débito Técnico:</a:t>
            </a:r>
            <a:r>
              <a:rPr lang="en-US" sz="18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Evita custos futuros e retrabalho.</a:t>
            </a:r>
          </a:p>
        </p:txBody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9259640" y="5826324"/>
            <a:ext cx="8218437" cy="1110555"/>
            <a:chOff x="0" y="0"/>
            <a:chExt cx="10957917" cy="1480740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10957941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957941">
                  <a:moveTo>
                    <a:pt x="0" y="0"/>
                  </a:moveTo>
                  <a:lnTo>
                    <a:pt x="10957941" y="0"/>
                  </a:lnTo>
                  <a:lnTo>
                    <a:pt x="10957941" y="1480693"/>
                  </a:lnTo>
                  <a:lnTo>
                    <a:pt x="0" y="1480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1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490919" y="5933777"/>
            <a:ext cx="7755880" cy="4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1812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Facilidade de Manutenção:</a:t>
            </a:r>
            <a:r>
              <a:rPr lang="en-US" sz="18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Permite correções e atualizações rápidas.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809922" y="7168158"/>
            <a:ext cx="8218437" cy="1110555"/>
            <a:chOff x="0" y="0"/>
            <a:chExt cx="10957917" cy="148074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957941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957941">
                  <a:moveTo>
                    <a:pt x="0" y="0"/>
                  </a:moveTo>
                  <a:lnTo>
                    <a:pt x="10957941" y="0"/>
                  </a:lnTo>
                  <a:lnTo>
                    <a:pt x="10957941" y="1480693"/>
                  </a:lnTo>
                  <a:lnTo>
                    <a:pt x="0" y="1480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41201" y="7275611"/>
            <a:ext cx="7755880" cy="4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1812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Colaboração Aprimorada:</a:t>
            </a:r>
            <a:r>
              <a:rPr lang="en-US" sz="18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Facilita o entendimento entre equipes.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259640" y="7168158"/>
            <a:ext cx="8218437" cy="1110555"/>
            <a:chOff x="0" y="0"/>
            <a:chExt cx="10957917" cy="148074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957941" cy="1480693"/>
            </a:xfrm>
            <a:custGeom>
              <a:avLst/>
              <a:gdLst/>
              <a:ahLst/>
              <a:cxnLst/>
              <a:rect r="r" b="b" t="t" l="l"/>
              <a:pathLst>
                <a:path h="1480693" w="10957941">
                  <a:moveTo>
                    <a:pt x="0" y="0"/>
                  </a:moveTo>
                  <a:lnTo>
                    <a:pt x="10957941" y="0"/>
                  </a:lnTo>
                  <a:lnTo>
                    <a:pt x="10957941" y="1480693"/>
                  </a:lnTo>
                  <a:lnTo>
                    <a:pt x="0" y="1480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3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90919" y="7275611"/>
            <a:ext cx="7755880" cy="494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b="true" sz="1812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Testabilidade Inerente:</a:t>
            </a:r>
            <a:r>
              <a:rPr lang="en-US" sz="18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Torna o software mais robusto e confiável.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9922" y="8415189"/>
            <a:ext cx="16668155" cy="86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1812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Investir em Clean Code desde o início, ou aplicá-lo através de refatorações, é crucial para a qualidade e o sucesso a longo prazo de qualquer sistema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DAG58EjSL_o</dc:identifier>
  <dcterms:modified xsi:type="dcterms:W3CDTF">2011-08-01T06:04:30Z</dcterms:modified>
  <cp:revision>1</cp:revision>
  <dc:title>PowerPointApresentaçãoA3Calvetti.pptx</dc:title>
</cp:coreProperties>
</file>